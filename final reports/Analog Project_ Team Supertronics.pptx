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1"/>
  </p:sldMasterIdLst>
  <p:sldIdLst>
    <p:sldId id="256" r:id="rId2"/>
    <p:sldId id="257" r:id="rId3"/>
    <p:sldId id="262" r:id="rId4"/>
    <p:sldId id="271" r:id="rId5"/>
    <p:sldId id="258" r:id="rId6"/>
    <p:sldId id="263" r:id="rId7"/>
    <p:sldId id="267" r:id="rId8"/>
    <p:sldId id="259" r:id="rId9"/>
    <p:sldId id="264" r:id="rId10"/>
    <p:sldId id="268" r:id="rId11"/>
    <p:sldId id="260" r:id="rId12"/>
    <p:sldId id="265" r:id="rId13"/>
    <p:sldId id="269" r:id="rId14"/>
    <p:sldId id="261" r:id="rId15"/>
    <p:sldId id="266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3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6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7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9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5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4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0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4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5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9" r:id="rId6"/>
    <p:sldLayoutId id="2147483734" r:id="rId7"/>
    <p:sldLayoutId id="2147483735" r:id="rId8"/>
    <p:sldLayoutId id="2147483736" r:id="rId9"/>
    <p:sldLayoutId id="2147483738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Electronics protoboard">
            <a:extLst>
              <a:ext uri="{FF2B5EF4-FFF2-40B4-BE49-F238E27FC236}">
                <a16:creationId xmlns:a16="http://schemas.microsoft.com/office/drawing/2014/main" id="{AABF9412-3CAA-FBD3-B284-729AF19208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9B439-092A-EFCF-0B05-6A176D894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EN2091 Analog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74A06-4BB4-4247-30B0-5E79790EC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Team Supertronics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C4831F-6771-6D1E-B1A9-548E4A145B6E}"/>
              </a:ext>
            </a:extLst>
          </p:cNvPr>
          <p:cNvSpPr txBox="1"/>
          <p:nvPr/>
        </p:nvSpPr>
        <p:spPr>
          <a:xfrm>
            <a:off x="954741" y="5432612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230045X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1658F4-0985-96A8-679B-30D310A668A9}"/>
              </a:ext>
            </a:extLst>
          </p:cNvPr>
          <p:cNvSpPr txBox="1"/>
          <p:nvPr/>
        </p:nvSpPr>
        <p:spPr>
          <a:xfrm>
            <a:off x="3967293" y="5432612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230140J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B9FA32-FF8E-AD43-B004-DB21D6A42A81}"/>
              </a:ext>
            </a:extLst>
          </p:cNvPr>
          <p:cNvSpPr txBox="1"/>
          <p:nvPr/>
        </p:nvSpPr>
        <p:spPr>
          <a:xfrm>
            <a:off x="6928548" y="5432612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230477X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194F25-0C77-8677-45FD-9FB2D39AA4AA}"/>
              </a:ext>
            </a:extLst>
          </p:cNvPr>
          <p:cNvSpPr txBox="1"/>
          <p:nvPr/>
        </p:nvSpPr>
        <p:spPr>
          <a:xfrm>
            <a:off x="9771323" y="543261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230730T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2159C3-3949-E120-6500-5A6EA7AFE94D}"/>
              </a:ext>
            </a:extLst>
          </p:cNvPr>
          <p:cNvSpPr txBox="1"/>
          <p:nvPr/>
        </p:nvSpPr>
        <p:spPr>
          <a:xfrm>
            <a:off x="641917" y="5848348"/>
            <a:ext cx="1660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Anthony C.S.B.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168CAA-8872-4DEA-4574-2CE26B60D4D0}"/>
              </a:ext>
            </a:extLst>
          </p:cNvPr>
          <p:cNvSpPr txBox="1"/>
          <p:nvPr/>
        </p:nvSpPr>
        <p:spPr>
          <a:xfrm>
            <a:off x="3144851" y="5801944"/>
            <a:ext cx="2697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Dharmakeerthi</a:t>
            </a:r>
            <a:r>
              <a:rPr lang="en-US" dirty="0"/>
              <a:t> P.K.G.C.L.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75F2FA-5961-3A15-1DDF-65C580A5FD37}"/>
              </a:ext>
            </a:extLst>
          </p:cNvPr>
          <p:cNvSpPr txBox="1"/>
          <p:nvPr/>
        </p:nvSpPr>
        <p:spPr>
          <a:xfrm>
            <a:off x="6656814" y="5801944"/>
            <a:ext cx="1563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Perera H.A.J.I.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822EB5-F757-40ED-06D0-53657007B423}"/>
              </a:ext>
            </a:extLst>
          </p:cNvPr>
          <p:cNvSpPr txBox="1"/>
          <p:nvPr/>
        </p:nvSpPr>
        <p:spPr>
          <a:xfrm>
            <a:off x="9457005" y="5801944"/>
            <a:ext cx="1664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Wijethilaka</a:t>
            </a:r>
            <a:r>
              <a:rPr lang="en-US" dirty="0"/>
              <a:t> J.S.</a:t>
            </a:r>
          </a:p>
        </p:txBody>
      </p:sp>
    </p:spTree>
    <p:extLst>
      <p:ext uri="{BB962C8B-B14F-4D97-AF65-F5344CB8AC3E}">
        <p14:creationId xmlns:p14="http://schemas.microsoft.com/office/powerpoint/2010/main" val="4038891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 up of audio equipment">
            <a:extLst>
              <a:ext uri="{FF2B5EF4-FFF2-40B4-BE49-F238E27FC236}">
                <a16:creationId xmlns:a16="http://schemas.microsoft.com/office/drawing/2014/main" id="{B9E248E1-29E7-6555-AE00-137BEDA85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C29C1-E4CB-2871-329B-C9842249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18" y="3429000"/>
            <a:ext cx="4506064" cy="18887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Analog Audio Effect Processor</a:t>
            </a:r>
          </a:p>
        </p:txBody>
      </p:sp>
    </p:spTree>
    <p:extLst>
      <p:ext uri="{BB962C8B-B14F-4D97-AF65-F5344CB8AC3E}">
        <p14:creationId xmlns:p14="http://schemas.microsoft.com/office/powerpoint/2010/main" val="2032028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3D square and rectangle">
            <a:extLst>
              <a:ext uri="{FF2B5EF4-FFF2-40B4-BE49-F238E27FC236}">
                <a16:creationId xmlns:a16="http://schemas.microsoft.com/office/drawing/2014/main" id="{8EE995A7-DF4E-B439-38F3-FC64E6D93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91" b="135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50EF4-FB23-ED2F-6B0C-1F14E0A7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255830"/>
            <a:ext cx="8138160" cy="1061981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Block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CF50B-FA89-443E-0962-CF0F1EF98E90}"/>
              </a:ext>
            </a:extLst>
          </p:cNvPr>
          <p:cNvSpPr txBox="1"/>
          <p:nvPr/>
        </p:nvSpPr>
        <p:spPr>
          <a:xfrm>
            <a:off x="4600281" y="5311588"/>
            <a:ext cx="325749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Regulated 12V Power Supply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002DD0-D2D4-A171-A3BD-B1D9C7F57897}"/>
              </a:ext>
            </a:extLst>
          </p:cNvPr>
          <p:cNvSpPr txBox="1"/>
          <p:nvPr/>
        </p:nvSpPr>
        <p:spPr>
          <a:xfrm>
            <a:off x="4600281" y="2277504"/>
            <a:ext cx="106093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Tremolo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89D56A-919F-0766-EDDA-F6CE52AC4391}"/>
              </a:ext>
            </a:extLst>
          </p:cNvPr>
          <p:cNvSpPr txBox="1"/>
          <p:nvPr/>
        </p:nvSpPr>
        <p:spPr>
          <a:xfrm>
            <a:off x="8603506" y="2277504"/>
            <a:ext cx="93852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Phaser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A807D9-3E10-5E53-7E1E-65D6E4D79382}"/>
              </a:ext>
            </a:extLst>
          </p:cNvPr>
          <p:cNvSpPr txBox="1"/>
          <p:nvPr/>
        </p:nvSpPr>
        <p:spPr>
          <a:xfrm>
            <a:off x="2475937" y="2277504"/>
            <a:ext cx="117256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Equalizer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22083E-5AB4-0A71-45DC-6E1693A99233}"/>
              </a:ext>
            </a:extLst>
          </p:cNvPr>
          <p:cNvSpPr txBox="1"/>
          <p:nvPr/>
        </p:nvSpPr>
        <p:spPr>
          <a:xfrm>
            <a:off x="25612" y="2277504"/>
            <a:ext cx="145193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Input Buffer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6F3187-CB01-D7E9-8EC6-B31497440423}"/>
              </a:ext>
            </a:extLst>
          </p:cNvPr>
          <p:cNvSpPr txBox="1"/>
          <p:nvPr/>
        </p:nvSpPr>
        <p:spPr>
          <a:xfrm>
            <a:off x="6392205" y="2277504"/>
            <a:ext cx="122488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Overdrive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5BB9DA-60B3-9BE9-74DF-86A343270AAB}"/>
              </a:ext>
            </a:extLst>
          </p:cNvPr>
          <p:cNvSpPr txBox="1"/>
          <p:nvPr/>
        </p:nvSpPr>
        <p:spPr>
          <a:xfrm>
            <a:off x="10528448" y="2277504"/>
            <a:ext cx="166353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Output Buffer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98CA3A77-6C57-92AF-5557-0E8177176076}"/>
              </a:ext>
            </a:extLst>
          </p:cNvPr>
          <p:cNvSpPr/>
          <p:nvPr/>
        </p:nvSpPr>
        <p:spPr>
          <a:xfrm>
            <a:off x="1587941" y="2369837"/>
            <a:ext cx="730993" cy="18466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F3EB50B6-4082-E053-D002-BD6F1163E476}"/>
              </a:ext>
            </a:extLst>
          </p:cNvPr>
          <p:cNvSpPr/>
          <p:nvPr/>
        </p:nvSpPr>
        <p:spPr>
          <a:xfrm>
            <a:off x="9669744" y="2389125"/>
            <a:ext cx="730993" cy="18466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B83CD047-069E-65A2-57ED-845EA9AB1E76}"/>
              </a:ext>
            </a:extLst>
          </p:cNvPr>
          <p:cNvSpPr/>
          <p:nvPr/>
        </p:nvSpPr>
        <p:spPr>
          <a:xfrm>
            <a:off x="7693925" y="2353266"/>
            <a:ext cx="730993" cy="18466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25AFF4B5-236E-70B1-9CF3-5C7E95F5A97D}"/>
              </a:ext>
            </a:extLst>
          </p:cNvPr>
          <p:cNvSpPr/>
          <p:nvPr/>
        </p:nvSpPr>
        <p:spPr>
          <a:xfrm>
            <a:off x="5738045" y="2383737"/>
            <a:ext cx="577327" cy="17076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FF629C31-37E1-E344-7F3A-C6C309F8C4AB}"/>
              </a:ext>
            </a:extLst>
          </p:cNvPr>
          <p:cNvSpPr/>
          <p:nvPr/>
        </p:nvSpPr>
        <p:spPr>
          <a:xfrm>
            <a:off x="3700776" y="2383737"/>
            <a:ext cx="730993" cy="18466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AAA93D5-2248-3CA0-7D77-DA23F0E2063E}"/>
              </a:ext>
            </a:extLst>
          </p:cNvPr>
          <p:cNvSpPr/>
          <p:nvPr/>
        </p:nvSpPr>
        <p:spPr>
          <a:xfrm>
            <a:off x="6096000" y="4706471"/>
            <a:ext cx="133028" cy="4706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32956E-A536-68C8-45D9-781024D9F10A}"/>
              </a:ext>
            </a:extLst>
          </p:cNvPr>
          <p:cNvSpPr/>
          <p:nvPr/>
        </p:nvSpPr>
        <p:spPr>
          <a:xfrm>
            <a:off x="789686" y="4639575"/>
            <a:ext cx="10745655" cy="1337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Up Arrow 61">
            <a:extLst>
              <a:ext uri="{FF2B5EF4-FFF2-40B4-BE49-F238E27FC236}">
                <a16:creationId xmlns:a16="http://schemas.microsoft.com/office/drawing/2014/main" id="{20574A52-E1C9-DCB1-7828-1A5D88AEB8F4}"/>
              </a:ext>
            </a:extLst>
          </p:cNvPr>
          <p:cNvSpPr/>
          <p:nvPr/>
        </p:nvSpPr>
        <p:spPr>
          <a:xfrm>
            <a:off x="751580" y="2781306"/>
            <a:ext cx="149373" cy="195835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Up Arrow 62">
            <a:extLst>
              <a:ext uri="{FF2B5EF4-FFF2-40B4-BE49-F238E27FC236}">
                <a16:creationId xmlns:a16="http://schemas.microsoft.com/office/drawing/2014/main" id="{CE930580-EE8F-D046-7D6F-3A12D2F3652A}"/>
              </a:ext>
            </a:extLst>
          </p:cNvPr>
          <p:cNvSpPr/>
          <p:nvPr/>
        </p:nvSpPr>
        <p:spPr>
          <a:xfrm>
            <a:off x="11450898" y="2815009"/>
            <a:ext cx="149373" cy="195835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Up Arrow 63">
            <a:extLst>
              <a:ext uri="{FF2B5EF4-FFF2-40B4-BE49-F238E27FC236}">
                <a16:creationId xmlns:a16="http://schemas.microsoft.com/office/drawing/2014/main" id="{AF1174E8-29AC-7BAE-7E0A-05FEBCEBFB6D}"/>
              </a:ext>
            </a:extLst>
          </p:cNvPr>
          <p:cNvSpPr/>
          <p:nvPr/>
        </p:nvSpPr>
        <p:spPr>
          <a:xfrm>
            <a:off x="9061140" y="2790121"/>
            <a:ext cx="149373" cy="195835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Up Arrow 64">
            <a:extLst>
              <a:ext uri="{FF2B5EF4-FFF2-40B4-BE49-F238E27FC236}">
                <a16:creationId xmlns:a16="http://schemas.microsoft.com/office/drawing/2014/main" id="{FBBAF89B-F97B-3C71-395D-E3D57029785E}"/>
              </a:ext>
            </a:extLst>
          </p:cNvPr>
          <p:cNvSpPr/>
          <p:nvPr/>
        </p:nvSpPr>
        <p:spPr>
          <a:xfrm>
            <a:off x="7124586" y="2782956"/>
            <a:ext cx="149373" cy="195835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Up Arrow 65">
            <a:extLst>
              <a:ext uri="{FF2B5EF4-FFF2-40B4-BE49-F238E27FC236}">
                <a16:creationId xmlns:a16="http://schemas.microsoft.com/office/drawing/2014/main" id="{984F2B49-9AF4-CE15-A70D-E1C36E2FE5A1}"/>
              </a:ext>
            </a:extLst>
          </p:cNvPr>
          <p:cNvSpPr/>
          <p:nvPr/>
        </p:nvSpPr>
        <p:spPr>
          <a:xfrm>
            <a:off x="5130746" y="2773550"/>
            <a:ext cx="149373" cy="195835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Up Arrow 66">
            <a:extLst>
              <a:ext uri="{FF2B5EF4-FFF2-40B4-BE49-F238E27FC236}">
                <a16:creationId xmlns:a16="http://schemas.microsoft.com/office/drawing/2014/main" id="{D39AF4C6-5B80-2F3F-1340-456C609AD849}"/>
              </a:ext>
            </a:extLst>
          </p:cNvPr>
          <p:cNvSpPr/>
          <p:nvPr/>
        </p:nvSpPr>
        <p:spPr>
          <a:xfrm>
            <a:off x="3062219" y="2807462"/>
            <a:ext cx="149373" cy="195835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70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wires">
            <a:extLst>
              <a:ext uri="{FF2B5EF4-FFF2-40B4-BE49-F238E27FC236}">
                <a16:creationId xmlns:a16="http://schemas.microsoft.com/office/drawing/2014/main" id="{75472262-E78D-EA55-C0DE-BE9D1F3EF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4058E-D9B4-CDF0-B5F7-E277EBA1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75" y="591355"/>
            <a:ext cx="3424383" cy="942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Power Supply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332731FB-7B0B-93F3-0B77-27A9A7FD6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32" y="1345490"/>
            <a:ext cx="9677400" cy="503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2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olume sliders">
            <a:extLst>
              <a:ext uri="{FF2B5EF4-FFF2-40B4-BE49-F238E27FC236}">
                <a16:creationId xmlns:a16="http://schemas.microsoft.com/office/drawing/2014/main" id="{F3544AE3-2EFB-3955-5111-F3BF2348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05" b="8082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26455E-4FFE-0E75-1CCE-A46D441A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18" y="3429000"/>
            <a:ext cx="4506064" cy="18887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3-Band Audio Equalizer</a:t>
            </a:r>
          </a:p>
        </p:txBody>
      </p:sp>
    </p:spTree>
    <p:extLst>
      <p:ext uri="{BB962C8B-B14F-4D97-AF65-F5344CB8AC3E}">
        <p14:creationId xmlns:p14="http://schemas.microsoft.com/office/powerpoint/2010/main" val="418218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E0180-3580-A74E-6A64-E2D2FAE0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3E8E53-3574-DF2B-866F-D482EC8D0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olume sliders">
            <a:extLst>
              <a:ext uri="{FF2B5EF4-FFF2-40B4-BE49-F238E27FC236}">
                <a16:creationId xmlns:a16="http://schemas.microsoft.com/office/drawing/2014/main" id="{04E7354F-2D35-24FB-1E46-25C55D5A97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05" b="8082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76C115-E3BC-3815-7BFF-CA456DB39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35A9C-97C2-8E74-50DA-3213FD3E81D0}"/>
              </a:ext>
            </a:extLst>
          </p:cNvPr>
          <p:cNvSpPr txBox="1"/>
          <p:nvPr/>
        </p:nvSpPr>
        <p:spPr>
          <a:xfrm>
            <a:off x="1219200" y="1219200"/>
            <a:ext cx="9979378" cy="5078313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Introduction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3-band equalizer is an audio processing tool used to adjust the amplitude of different frequency bands in a sound signal.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Commonly used in audio systems, music production, and live sound to shape the tonal quality of audio</a:t>
            </a:r>
            <a:r>
              <a:rPr 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400" b="1" u="sng" dirty="0"/>
              <a:t>Functionality</a:t>
            </a:r>
          </a:p>
          <a:p>
            <a:endParaRPr lang="en-US" sz="24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Allows boosting or cutting each frequency band independently and helps in improving clarity, warmth, and overall balance of audio.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0DD004-1AD8-D48A-F3E1-7091141F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6170" y="202863"/>
            <a:ext cx="5998669" cy="813475"/>
          </a:xfrm>
          <a:solidFill>
            <a:schemeClr val="tx2">
              <a:lumMod val="1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3-Band Audio Equalizer</a:t>
            </a:r>
          </a:p>
        </p:txBody>
      </p:sp>
    </p:spTree>
    <p:extLst>
      <p:ext uri="{BB962C8B-B14F-4D97-AF65-F5344CB8AC3E}">
        <p14:creationId xmlns:p14="http://schemas.microsoft.com/office/powerpoint/2010/main" val="1624401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6BFF7-E689-7837-A6BD-72C64D41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EE4885-FC0F-D62D-DE1F-0C34D089D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olume sliders">
            <a:extLst>
              <a:ext uri="{FF2B5EF4-FFF2-40B4-BE49-F238E27FC236}">
                <a16:creationId xmlns:a16="http://schemas.microsoft.com/office/drawing/2014/main" id="{F0AEA8FB-60AD-BE8B-2E6D-129F6EC80F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05" b="8082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195D515-4BFA-4826-4C4F-E46BC5834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449DBF-C10D-CFD8-8392-89C92A047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574" y="1311049"/>
            <a:ext cx="7182900" cy="51002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3DAED2-449B-A05A-740C-9F47ABC3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2" y="173366"/>
            <a:ext cx="5998669" cy="813475"/>
          </a:xfrm>
          <a:solidFill>
            <a:schemeClr val="tx2">
              <a:lumMod val="1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dirty="0">
                <a:solidFill>
                  <a:srgbClr val="FFFFFF"/>
                </a:solidFill>
              </a:rPr>
              <a:t>PCB Schematic (Audio Eq)</a:t>
            </a:r>
          </a:p>
        </p:txBody>
      </p:sp>
    </p:spTree>
    <p:extLst>
      <p:ext uri="{BB962C8B-B14F-4D97-AF65-F5344CB8AC3E}">
        <p14:creationId xmlns:p14="http://schemas.microsoft.com/office/powerpoint/2010/main" val="1141488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illusion of swirling lines in black and white">
            <a:extLst>
              <a:ext uri="{FF2B5EF4-FFF2-40B4-BE49-F238E27FC236}">
                <a16:creationId xmlns:a16="http://schemas.microsoft.com/office/drawing/2014/main" id="{03A529E5-84D0-051B-5903-3CB6631339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9A601-667A-81F5-54EF-B48726FA3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18" y="3429000"/>
            <a:ext cx="4506064" cy="18887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Overdrive Module</a:t>
            </a:r>
          </a:p>
        </p:txBody>
      </p:sp>
    </p:spTree>
    <p:extLst>
      <p:ext uri="{BB962C8B-B14F-4D97-AF65-F5344CB8AC3E}">
        <p14:creationId xmlns:p14="http://schemas.microsoft.com/office/powerpoint/2010/main" val="2976433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45EB2-1A8E-25DC-A57E-09C0DA9F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659BF03-804E-1DBB-F7EE-F4B20F62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illusion of swirling lines in black and white">
            <a:extLst>
              <a:ext uri="{FF2B5EF4-FFF2-40B4-BE49-F238E27FC236}">
                <a16:creationId xmlns:a16="http://schemas.microsoft.com/office/drawing/2014/main" id="{ADAF6D37-9448-C0A5-1554-C6C3094A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2FB69CB-81F5-BFEA-E5C1-73DE73C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DF15F-BCEB-9580-3DB1-1546B4E3D412}"/>
              </a:ext>
            </a:extLst>
          </p:cNvPr>
          <p:cNvSpPr txBox="1"/>
          <p:nvPr/>
        </p:nvSpPr>
        <p:spPr>
          <a:xfrm>
            <a:off x="889820" y="1216904"/>
            <a:ext cx="10412360" cy="5078313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Introduction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 Overdrive module is an audio effects unit that intentionally distorts the audio signal to produce a warm, saturated sound.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Commonly used in electric guitars, synthesizers, and audio processing to add harmonic richness and character.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u="sng" dirty="0"/>
              <a:t>Functionality</a:t>
            </a:r>
          </a:p>
          <a:p>
            <a:endParaRPr lang="en-US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Boosts the signal and introduces harmonic distortion, making the sound more driven.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Includes controls for Gain ( amount of distortion) and Volume (output signal strength 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u="sn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32EC2-8ECE-08FF-2603-FE4211B1C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685" y="211001"/>
            <a:ext cx="5026630" cy="794903"/>
          </a:xfrm>
          <a:solidFill>
            <a:schemeClr val="tx2">
              <a:lumMod val="1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Overdrive Module</a:t>
            </a:r>
          </a:p>
        </p:txBody>
      </p:sp>
    </p:spTree>
    <p:extLst>
      <p:ext uri="{BB962C8B-B14F-4D97-AF65-F5344CB8AC3E}">
        <p14:creationId xmlns:p14="http://schemas.microsoft.com/office/powerpoint/2010/main" val="69190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0854E-3A18-D725-DA81-AA2A18E2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0215524-C3A7-C00E-18B1-DE81DE13C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illusion of swirling lines in black and white">
            <a:extLst>
              <a:ext uri="{FF2B5EF4-FFF2-40B4-BE49-F238E27FC236}">
                <a16:creationId xmlns:a16="http://schemas.microsoft.com/office/drawing/2014/main" id="{4C573A5B-4029-1E7B-775E-2938D1F85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5E8C031-63AE-32B9-0213-4C0F8E66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BA8D6330-6F2C-68A6-1F49-4E0771B21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759" y="1406036"/>
            <a:ext cx="6470482" cy="5097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25E2BD-764B-1433-212A-D75D679A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70" y="305567"/>
            <a:ext cx="9022271" cy="794903"/>
          </a:xfrm>
          <a:solidFill>
            <a:schemeClr val="tx2">
              <a:lumMod val="1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0" dirty="0">
                <a:solidFill>
                  <a:srgbClr val="FFFFFF"/>
                </a:solidFill>
              </a:rPr>
              <a:t>PCB Schematic (Overdrive Module)</a:t>
            </a:r>
          </a:p>
        </p:txBody>
      </p:sp>
    </p:spTree>
    <p:extLst>
      <p:ext uri="{BB962C8B-B14F-4D97-AF65-F5344CB8AC3E}">
        <p14:creationId xmlns:p14="http://schemas.microsoft.com/office/powerpoint/2010/main" val="443542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D8D05412-97BC-B675-D688-9EA90A1B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72" r="9091" b="14119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6CCEB-5BBF-88ED-3536-760E0E52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18" y="3429000"/>
            <a:ext cx="4506064" cy="18887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Tremolo Module</a:t>
            </a:r>
          </a:p>
        </p:txBody>
      </p:sp>
    </p:spTree>
    <p:extLst>
      <p:ext uri="{BB962C8B-B14F-4D97-AF65-F5344CB8AC3E}">
        <p14:creationId xmlns:p14="http://schemas.microsoft.com/office/powerpoint/2010/main" val="2950099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E497C-A077-F878-6A49-03E1113E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E4CAE05-B39A-DA99-D7FC-CA7DD6D2B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F60CB39B-A4DD-D614-3DCD-ED28B04C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72" r="9091" b="14119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29AE638-21AB-96E1-6EE5-D2D0747B5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E0DA2-BFC7-FA2A-4AC2-20930396B77C}"/>
              </a:ext>
            </a:extLst>
          </p:cNvPr>
          <p:cNvSpPr txBox="1"/>
          <p:nvPr/>
        </p:nvSpPr>
        <p:spPr>
          <a:xfrm>
            <a:off x="1219200" y="1406012"/>
            <a:ext cx="9547123" cy="517064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Introduction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Tremolo module is an audio effect that modulates the amplitude (volume) of an audio signal periodically.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u="sng" dirty="0"/>
              <a:t>Functionality</a:t>
            </a:r>
          </a:p>
          <a:p>
            <a:endParaRPr lang="en-US" sz="24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Modulates the amplitude of the input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Includes controls for </a:t>
            </a:r>
            <a:r>
              <a:rPr lang="en-US" sz="2400" b="1" dirty="0"/>
              <a:t>Rate</a:t>
            </a:r>
            <a:r>
              <a:rPr lang="en-US" sz="2400" dirty="0"/>
              <a:t> (speed of modulation) and  </a:t>
            </a:r>
            <a:r>
              <a:rPr lang="en-US" sz="2400" b="1" dirty="0"/>
              <a:t>Depth</a:t>
            </a:r>
            <a:r>
              <a:rPr lang="en-US" sz="2400" dirty="0"/>
              <a:t> (intensity of the effect)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BBA29-5D52-EF16-A95D-8C1FCEDA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729" y="213657"/>
            <a:ext cx="4506064" cy="794903"/>
          </a:xfrm>
          <a:solidFill>
            <a:schemeClr val="tx2">
              <a:lumMod val="1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Tremolo Module</a:t>
            </a:r>
          </a:p>
        </p:txBody>
      </p:sp>
    </p:spTree>
    <p:extLst>
      <p:ext uri="{BB962C8B-B14F-4D97-AF65-F5344CB8AC3E}">
        <p14:creationId xmlns:p14="http://schemas.microsoft.com/office/powerpoint/2010/main" val="3449809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EB0FA-EC6A-A68B-705C-F5A5120D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75D852C-C7C1-D78C-3DE9-ADD0E3212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1E0A2203-39CF-A5A7-007F-CCC29F134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72" r="9091" b="14119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AA96464-BAAD-9390-94EF-15D375578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D36D8906-E650-8F1F-C671-45DBDC30D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494" y="1317753"/>
            <a:ext cx="7739011" cy="5032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9F0AF7-DBFA-D87E-993B-826A15E86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47" y="261425"/>
            <a:ext cx="7528039" cy="794903"/>
          </a:xfrm>
          <a:solidFill>
            <a:schemeClr val="tx2">
              <a:lumMod val="1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b="0" dirty="0">
                <a:solidFill>
                  <a:srgbClr val="FFFFFF"/>
                </a:solidFill>
              </a:rPr>
              <a:t>PCB Schematic (Tremolo Module)</a:t>
            </a:r>
          </a:p>
        </p:txBody>
      </p:sp>
    </p:spTree>
    <p:extLst>
      <p:ext uri="{BB962C8B-B14F-4D97-AF65-F5344CB8AC3E}">
        <p14:creationId xmlns:p14="http://schemas.microsoft.com/office/powerpoint/2010/main" val="2193199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udio sound board">
            <a:extLst>
              <a:ext uri="{FF2B5EF4-FFF2-40B4-BE49-F238E27FC236}">
                <a16:creationId xmlns:a16="http://schemas.microsoft.com/office/drawing/2014/main" id="{05F97ECA-A58C-B5F0-16E2-157641A5C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B3D2C-DBF2-3783-18E0-C45E6594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18" y="3429000"/>
            <a:ext cx="4506064" cy="18887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Phaser Module</a:t>
            </a:r>
          </a:p>
        </p:txBody>
      </p:sp>
    </p:spTree>
    <p:extLst>
      <p:ext uri="{BB962C8B-B14F-4D97-AF65-F5344CB8AC3E}">
        <p14:creationId xmlns:p14="http://schemas.microsoft.com/office/powerpoint/2010/main" val="3260312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85A70-3E13-17AF-B472-5E76ACDB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D2E87B-DFA3-9AEC-119D-7D773CB65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udio sound board">
            <a:extLst>
              <a:ext uri="{FF2B5EF4-FFF2-40B4-BE49-F238E27FC236}">
                <a16:creationId xmlns:a16="http://schemas.microsoft.com/office/drawing/2014/main" id="{CE4515F1-2DA3-7BAA-BDBE-863F840A6A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F961D00-8283-F98F-5D65-8B70FB4B6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6B808-8504-28A7-B31B-84B18D2235E4}"/>
              </a:ext>
            </a:extLst>
          </p:cNvPr>
          <p:cNvSpPr txBox="1"/>
          <p:nvPr/>
        </p:nvSpPr>
        <p:spPr>
          <a:xfrm>
            <a:off x="1101212" y="1471696"/>
            <a:ext cx="9989575" cy="437042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Introduction</a:t>
            </a:r>
          </a:p>
          <a:p>
            <a:endParaRPr lang="en-US" sz="20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Phaser module is an audio effect that creates sweeping, swirling sounds by splitting the audio signal and shifting the phase of one part before recombining.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u="sng" dirty="0"/>
              <a:t>Functionality</a:t>
            </a:r>
          </a:p>
          <a:p>
            <a:endParaRPr lang="en-US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Splits the input signal into two paths and shifts the phase of one path.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Recombines the signals, causing constructive and destructive interference, producing peaks and troughs in the frequency spectrum.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Includes controls such as </a:t>
            </a:r>
            <a:r>
              <a:rPr lang="en-US" sz="2000" b="1" dirty="0"/>
              <a:t>Rate</a:t>
            </a:r>
            <a:r>
              <a:rPr lang="en-US" sz="2000" dirty="0"/>
              <a:t> (speed of sweep) and </a:t>
            </a:r>
            <a:r>
              <a:rPr lang="en-US" sz="2000" b="1" dirty="0"/>
              <a:t>Depth</a:t>
            </a:r>
            <a:r>
              <a:rPr lang="en-US" sz="2000" dirty="0"/>
              <a:t> (intensity of effect)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FBE21-6E4A-0DD6-0F52-1FF71C1C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93" y="323648"/>
            <a:ext cx="3984411" cy="824400"/>
          </a:xfrm>
          <a:solidFill>
            <a:srgbClr val="002060"/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Phaser Module</a:t>
            </a:r>
          </a:p>
        </p:txBody>
      </p:sp>
    </p:spTree>
    <p:extLst>
      <p:ext uri="{BB962C8B-B14F-4D97-AF65-F5344CB8AC3E}">
        <p14:creationId xmlns:p14="http://schemas.microsoft.com/office/powerpoint/2010/main" val="411359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C4A7C-C959-E3D8-558E-AC96683B0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89E346-9951-B240-0954-AA70AC4EA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udio sound board">
            <a:extLst>
              <a:ext uri="{FF2B5EF4-FFF2-40B4-BE49-F238E27FC236}">
                <a16:creationId xmlns:a16="http://schemas.microsoft.com/office/drawing/2014/main" id="{6E301F04-10A7-5A5F-1F54-735C805C2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1C65C2-584E-A332-6680-477B68DED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1B9EEAA6-AD7C-C35C-5A31-9D715F393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9" y="1498786"/>
            <a:ext cx="6004241" cy="4684065"/>
          </a:xfrm>
          <a:prstGeom prst="rect">
            <a:avLst/>
          </a:prstGeom>
        </p:spPr>
      </p:pic>
      <p:pic>
        <p:nvPicPr>
          <p:cNvPr id="8" name="Picture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7EDAE8C4-0D2F-F533-D0A2-FE92BBB82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24" y="1600882"/>
            <a:ext cx="5291554" cy="45819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AF5BFE-3F18-3B7E-B261-E70F0BF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0" y="262186"/>
            <a:ext cx="7232801" cy="824400"/>
          </a:xfrm>
          <a:solidFill>
            <a:srgbClr val="002060"/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b="0" dirty="0">
                <a:solidFill>
                  <a:srgbClr val="FFFFFF"/>
                </a:solidFill>
              </a:rPr>
              <a:t>PCB Schematic (Phaser Module)</a:t>
            </a:r>
          </a:p>
        </p:txBody>
      </p:sp>
    </p:spTree>
    <p:extLst>
      <p:ext uri="{BB962C8B-B14F-4D97-AF65-F5344CB8AC3E}">
        <p14:creationId xmlns:p14="http://schemas.microsoft.com/office/powerpoint/2010/main" val="3764572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9763-4A18-E3EC-F4B8-F30404BB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udio equipment">
            <a:extLst>
              <a:ext uri="{FF2B5EF4-FFF2-40B4-BE49-F238E27FC236}">
                <a16:creationId xmlns:a16="http://schemas.microsoft.com/office/drawing/2014/main" id="{48592558-3D6E-CCB0-7B07-9003E13BD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3B027E-714D-FE8B-C659-17924E10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034" y="270873"/>
            <a:ext cx="3207663" cy="7260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PCB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7FFF4-8CFF-7962-1FD1-D745DDB12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628" y="1077961"/>
            <a:ext cx="7352744" cy="535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28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A701-BE04-340E-797B-ACCF9A1F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udio equipment">
            <a:extLst>
              <a:ext uri="{FF2B5EF4-FFF2-40B4-BE49-F238E27FC236}">
                <a16:creationId xmlns:a16="http://schemas.microsoft.com/office/drawing/2014/main" id="{D4155EBC-61D9-9341-4556-5E54233B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5413BE-178A-F953-DA2E-75FFDBFD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97" y="300802"/>
            <a:ext cx="4506064" cy="7557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highlight>
                  <a:srgbClr val="000080"/>
                </a:highlight>
              </a:rPr>
              <a:t>Enclosure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195F58-9678-94E7-9075-59155040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24" y="1833849"/>
            <a:ext cx="5285809" cy="3635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8C8880-DFA7-5C4E-94A3-C651483A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901564" y="1236493"/>
            <a:ext cx="4044605" cy="502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04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71D2-45E4-8B37-D7ED-BFC36E3D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udio equipment">
            <a:extLst>
              <a:ext uri="{FF2B5EF4-FFF2-40B4-BE49-F238E27FC236}">
                <a16:creationId xmlns:a16="http://schemas.microsoft.com/office/drawing/2014/main" id="{782E3D8C-EE3B-CD57-A161-7DC61B0F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C02637-0556-D451-1A78-AAFF370D5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8" y="353961"/>
            <a:ext cx="4210553" cy="834231"/>
          </a:xfrm>
          <a:solidFill>
            <a:srgbClr val="002060"/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Task Allocation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851D0C-3F9A-8193-EE57-45A9BA6AB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3875"/>
              </p:ext>
            </p:extLst>
          </p:nvPr>
        </p:nvGraphicFramePr>
        <p:xfrm>
          <a:off x="322118" y="1447253"/>
          <a:ext cx="11191456" cy="33902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4147219">
                  <a:extLst>
                    <a:ext uri="{9D8B030D-6E8A-4147-A177-3AD203B41FA5}">
                      <a16:colId xmlns:a16="http://schemas.microsoft.com/office/drawing/2014/main" val="1879078224"/>
                    </a:ext>
                  </a:extLst>
                </a:gridCol>
                <a:gridCol w="7044237">
                  <a:extLst>
                    <a:ext uri="{9D8B030D-6E8A-4147-A177-3AD203B41FA5}">
                      <a16:colId xmlns:a16="http://schemas.microsoft.com/office/drawing/2014/main" val="1369545239"/>
                    </a:ext>
                  </a:extLst>
                </a:gridCol>
              </a:tblGrid>
              <a:tr h="847555"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  <a:p>
                      <a:pPr algn="ctr"/>
                      <a:r>
                        <a:rPr lang="en-US" b="0" dirty="0"/>
                        <a:t>230045X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Overdrive Module, PCB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23776"/>
                  </a:ext>
                </a:extLst>
              </a:tr>
              <a:tr h="84755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230140J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Phaser Module, Enclosure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3735"/>
                  </a:ext>
                </a:extLst>
              </a:tr>
              <a:tr h="84755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230477X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Tremolo Module, Component Selection, Assembling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10909"/>
                  </a:ext>
                </a:extLst>
              </a:tr>
              <a:tr h="84755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230730T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Audio Equalizer, Power 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347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369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C267-542C-D28E-3EDA-87EA6160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udio sound board">
            <a:extLst>
              <a:ext uri="{FF2B5EF4-FFF2-40B4-BE49-F238E27FC236}">
                <a16:creationId xmlns:a16="http://schemas.microsoft.com/office/drawing/2014/main" id="{B93059F3-6DBA-7BD1-3719-11DB1B1E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CCC1F6-4D01-2BE0-0AF3-A1AC669A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7" y="757084"/>
            <a:ext cx="3158502" cy="247772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7200" dirty="0">
                <a:solidFill>
                  <a:srgbClr val="FFFFFF"/>
                </a:solidFill>
              </a:rPr>
              <a:t>Thank </a:t>
            </a:r>
            <a:br>
              <a:rPr lang="en-US" sz="7200" dirty="0">
                <a:solidFill>
                  <a:srgbClr val="FFFFFF"/>
                </a:solidFill>
              </a:rPr>
            </a:br>
            <a:r>
              <a:rPr lang="en-US" sz="7200" dirty="0">
                <a:solidFill>
                  <a:srgbClr val="FFFFFF"/>
                </a:solidFill>
              </a:rPr>
              <a:t>You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A3C701-FAF9-D862-F228-C3009E1FF6A5}"/>
              </a:ext>
            </a:extLst>
          </p:cNvPr>
          <p:cNvSpPr txBox="1">
            <a:spLocks/>
          </p:cNvSpPr>
          <p:nvPr/>
        </p:nvSpPr>
        <p:spPr>
          <a:xfrm>
            <a:off x="1148027" y="3623189"/>
            <a:ext cx="3581290" cy="58993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0" dirty="0">
                <a:solidFill>
                  <a:srgbClr val="FFFFFF"/>
                </a:solidFill>
              </a:rPr>
              <a:t>Team </a:t>
            </a:r>
            <a:r>
              <a:rPr lang="en-US" sz="2800" b="0" dirty="0" err="1">
                <a:solidFill>
                  <a:srgbClr val="FFFFFF"/>
                </a:solidFill>
              </a:rPr>
              <a:t>SuperTronics</a:t>
            </a:r>
            <a:endParaRPr lang="en-US" sz="2800" b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96460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619</TotalTime>
  <Words>406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Neue Haas Grotesk Text Pro</vt:lpstr>
      <vt:lpstr>VanillaVTI</vt:lpstr>
      <vt:lpstr>EN2091 Analog Project</vt:lpstr>
      <vt:lpstr>Analog Audio Effect Processor</vt:lpstr>
      <vt:lpstr>Block Diagram</vt:lpstr>
      <vt:lpstr>Power Supply</vt:lpstr>
      <vt:lpstr>3-Band Audio Equalizer</vt:lpstr>
      <vt:lpstr>3-Band Audio Equalizer</vt:lpstr>
      <vt:lpstr>PCB Schematic (Audio Eq)</vt:lpstr>
      <vt:lpstr>Overdrive Module</vt:lpstr>
      <vt:lpstr>Overdrive Module</vt:lpstr>
      <vt:lpstr>PCB Schematic (Overdrive Module)</vt:lpstr>
      <vt:lpstr>Tremolo Module</vt:lpstr>
      <vt:lpstr>Tremolo Module</vt:lpstr>
      <vt:lpstr>PCB Schematic (Tremolo Module)</vt:lpstr>
      <vt:lpstr>Phaser Module</vt:lpstr>
      <vt:lpstr>Phaser Module</vt:lpstr>
      <vt:lpstr>PCB Schematic (Phaser Module)</vt:lpstr>
      <vt:lpstr>PCB Layout</vt:lpstr>
      <vt:lpstr>Enclosure Design</vt:lpstr>
      <vt:lpstr>Task Allocation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Indeepa Perera</dc:creator>
  <cp:lastModifiedBy>Chamod Dharmakeerthi</cp:lastModifiedBy>
  <cp:revision>10</cp:revision>
  <dcterms:created xsi:type="dcterms:W3CDTF">2025-10-13T14:17:49Z</dcterms:created>
  <dcterms:modified xsi:type="dcterms:W3CDTF">2025-12-11T08:53:34Z</dcterms:modified>
</cp:coreProperties>
</file>